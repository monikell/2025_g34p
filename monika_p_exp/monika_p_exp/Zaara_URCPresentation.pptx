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60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BBA3"/>
    <a:srgbClr val="6C8E6D"/>
    <a:srgbClr val="87A388"/>
    <a:srgbClr val="AFC278"/>
    <a:srgbClr val="5E711F"/>
    <a:srgbClr val="F2F2F2"/>
    <a:srgbClr val="C191BB"/>
    <a:srgbClr val="A45C9C"/>
    <a:srgbClr val="6B7E25"/>
    <a:srgbClr val="FCA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0" autoAdjust="0"/>
    <p:restoredTop sz="94686"/>
  </p:normalViewPr>
  <p:slideViewPr>
    <p:cSldViewPr snapToGrid="0">
      <p:cViewPr>
        <p:scale>
          <a:sx n="45" d="100"/>
          <a:sy n="45" d="100"/>
        </p:scale>
        <p:origin x="4648" y="48"/>
      </p:cViewPr>
      <p:guideLst>
        <p:guide orient="horz" pos="10368"/>
        <p:guide pos="13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2871D-6688-4346-BC16-8AF96380D35E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CC6D0-D639-449D-A794-F07EEE01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1pPr>
    <a:lvl2pPr marL="498759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2pPr>
    <a:lvl3pPr marL="997519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3pPr>
    <a:lvl4pPr marL="1496278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4pPr>
    <a:lvl5pPr marL="1995038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5pPr>
    <a:lvl6pPr marL="2493797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6pPr>
    <a:lvl7pPr marL="2992557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7pPr>
    <a:lvl8pPr marL="3491316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8pPr>
    <a:lvl9pPr marL="3990076" algn="l" defTabSz="997519" rtl="0" eaLnBrk="1" latinLnBrk="0" hangingPunct="1">
      <a:defRPr sz="13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BCC6D0-D639-449D-A794-F07EEE01D8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3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3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5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5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3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2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2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6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5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6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54D35-BEC8-44F2-B501-3AE7E57BB905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9F7D9-9821-4104-B32C-236C16056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1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7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B83F3-69F2-5D8A-050F-16475B60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EDF2202-88AE-8630-0194-99444CE70F75}"/>
              </a:ext>
            </a:extLst>
          </p:cNvPr>
          <p:cNvSpPr/>
          <p:nvPr/>
        </p:nvSpPr>
        <p:spPr>
          <a:xfrm>
            <a:off x="746146" y="15087916"/>
            <a:ext cx="7909893" cy="5350736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rgbClr val="B5B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2BE58C-3000-56EB-8475-AB3692CFF82F}"/>
              </a:ext>
            </a:extLst>
          </p:cNvPr>
          <p:cNvSpPr/>
          <p:nvPr/>
        </p:nvSpPr>
        <p:spPr>
          <a:xfrm>
            <a:off x="8930846" y="15087916"/>
            <a:ext cx="8054828" cy="5350736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rgbClr val="B5B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5CF77-2B10-709F-2B9B-7635954562C7}"/>
              </a:ext>
            </a:extLst>
          </p:cNvPr>
          <p:cNvSpPr/>
          <p:nvPr/>
        </p:nvSpPr>
        <p:spPr>
          <a:xfrm>
            <a:off x="712518" y="376887"/>
            <a:ext cx="42466162" cy="4444496"/>
          </a:xfrm>
          <a:prstGeom prst="rect">
            <a:avLst/>
          </a:prstGeom>
          <a:solidFill>
            <a:srgbClr val="AFC2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C2CA27-1B8C-D3F8-D818-F9D6CD575481}"/>
              </a:ext>
            </a:extLst>
          </p:cNvPr>
          <p:cNvSpPr/>
          <p:nvPr/>
        </p:nvSpPr>
        <p:spPr>
          <a:xfrm>
            <a:off x="712520" y="7121248"/>
            <a:ext cx="16273154" cy="6716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Plants respond to nutrient addition and light availability by increasing biomass. 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Plants preferentially allocate biomass aboveground in response to increasing nutrient availability and belowground in response to increasing light availability.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biomass allocation responses to interactions between nutrient addition and light availability remains under-examined, particularly in reference to phosphorus availability and between photosynthetic pathways.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45115-F12A-BCE5-6A32-5A684DA31E22}"/>
              </a:ext>
            </a:extLst>
          </p:cNvPr>
          <p:cNvSpPr/>
          <p:nvPr/>
        </p:nvSpPr>
        <p:spPr>
          <a:xfrm>
            <a:off x="18027309" y="23590025"/>
            <a:ext cx="25151372" cy="8951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753" tIns="49876" rIns="99753" bIns="49876" rtlCol="0" anchor="ctr"/>
          <a:lstStyle/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While root biomass did not differ between C</a:t>
            </a:r>
            <a:r>
              <a:rPr lang="en-US" sz="4800" baseline="-25000" dirty="0">
                <a:solidFill>
                  <a:schemeClr val="tx1"/>
                </a:solidFill>
                <a:latin typeface="Times New Roman"/>
                <a:cs typeface="Times New Roman"/>
              </a:rPr>
              <a:t>3</a:t>
            </a: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 and C</a:t>
            </a:r>
            <a:r>
              <a:rPr lang="en-US" sz="4800" baseline="-25000" dirty="0">
                <a:solidFill>
                  <a:schemeClr val="tx1"/>
                </a:solidFill>
                <a:latin typeface="Times New Roman"/>
                <a:cs typeface="Times New Roman"/>
              </a:rPr>
              <a:t>4</a:t>
            </a: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 species or across the P fertilization gradient, root biomass generally increased with increasing light availability (i.e., decreasing shade cover).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873" dirty="0">
                <a:solidFill>
                  <a:srgbClr val="F2F2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Root biomass increased more strongly with increasing light availability in C</a:t>
            </a:r>
            <a:r>
              <a:rPr lang="en-US" sz="4800" baseline="-25000" dirty="0">
                <a:solidFill>
                  <a:schemeClr val="tx1"/>
                </a:solidFill>
                <a:latin typeface="Times New Roman"/>
                <a:cs typeface="Times New Roman"/>
              </a:rPr>
              <a:t>4</a:t>
            </a: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 species than C</a:t>
            </a:r>
            <a:r>
              <a:rPr lang="en-US" sz="4800" baseline="-25000" dirty="0">
                <a:solidFill>
                  <a:schemeClr val="tx1"/>
                </a:solidFill>
                <a:latin typeface="Times New Roman"/>
                <a:cs typeface="Times New Roman"/>
              </a:rPr>
              <a:t>3</a:t>
            </a: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 species. 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873" dirty="0">
                <a:solidFill>
                  <a:srgbClr val="F2F2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These findings could indicate that enhanced demand to build and maintain photosynthetic enzymes in C</a:t>
            </a:r>
            <a:r>
              <a:rPr lang="en-US" sz="4800" baseline="-25000" dirty="0">
                <a:solidFill>
                  <a:schemeClr val="tx1"/>
                </a:solidFill>
                <a:latin typeface="Times New Roman"/>
                <a:cs typeface="Times New Roman"/>
              </a:rPr>
              <a:t>4</a:t>
            </a: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 species may drive increased belowground biomass allocation as a strategy for increasing nutrient and water acquisition. 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873" dirty="0">
                <a:solidFill>
                  <a:srgbClr val="F2F2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623449" indent="-623449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Times New Roman"/>
                <a:cs typeface="Times New Roman"/>
              </a:rPr>
              <a:t>Ongoing work is centered around quantifying aboveground biomass responses to these treatment combinations, which will allow us to address questions related to biomass partitioning between above- and belowground biomass.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392350-5772-8E8E-99E0-12B92058319F}"/>
              </a:ext>
            </a:extLst>
          </p:cNvPr>
          <p:cNvSpPr/>
          <p:nvPr/>
        </p:nvSpPr>
        <p:spPr>
          <a:xfrm>
            <a:off x="712519" y="5207437"/>
            <a:ext cx="16273155" cy="1913810"/>
          </a:xfrm>
          <a:prstGeom prst="rect">
            <a:avLst/>
          </a:prstGeom>
          <a:solidFill>
            <a:srgbClr val="AFC2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62D424-C2FE-B234-029F-F4CC20212EEA}"/>
              </a:ext>
            </a:extLst>
          </p:cNvPr>
          <p:cNvSpPr/>
          <p:nvPr/>
        </p:nvSpPr>
        <p:spPr>
          <a:xfrm>
            <a:off x="712519" y="20885677"/>
            <a:ext cx="16273155" cy="1986303"/>
          </a:xfrm>
          <a:prstGeom prst="rect">
            <a:avLst/>
          </a:prstGeom>
          <a:solidFill>
            <a:srgbClr val="AFC2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7E016F-1714-C272-3E36-7B4242F2D293}"/>
              </a:ext>
            </a:extLst>
          </p:cNvPr>
          <p:cNvSpPr/>
          <p:nvPr/>
        </p:nvSpPr>
        <p:spPr>
          <a:xfrm>
            <a:off x="18027310" y="21854996"/>
            <a:ext cx="25151372" cy="1986303"/>
          </a:xfrm>
          <a:prstGeom prst="rect">
            <a:avLst/>
          </a:prstGeom>
          <a:solidFill>
            <a:srgbClr val="AFC2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RESULTS/CONCLUSION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201B2-0940-EA01-D632-B3612B1846C5}"/>
              </a:ext>
            </a:extLst>
          </p:cNvPr>
          <p:cNvSpPr/>
          <p:nvPr/>
        </p:nvSpPr>
        <p:spPr>
          <a:xfrm>
            <a:off x="1592748" y="683615"/>
            <a:ext cx="40344961" cy="29215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85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Availability S</a:t>
            </a:r>
            <a:r>
              <a:rPr lang="en-US" sz="872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trongly Alters Belowground Biomass in C</a:t>
            </a:r>
            <a:r>
              <a:rPr lang="en-US" sz="8727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872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</a:t>
            </a:r>
            <a:r>
              <a:rPr lang="en-US" sz="8727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872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56B180-E1A6-3382-DC44-28BF3A7A3811}"/>
              </a:ext>
            </a:extLst>
          </p:cNvPr>
          <p:cNvSpPr/>
          <p:nvPr/>
        </p:nvSpPr>
        <p:spPr>
          <a:xfrm>
            <a:off x="18027309" y="5207437"/>
            <a:ext cx="25151371" cy="161681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67071-645F-3DCE-A2C0-5F3D8CAFA507}"/>
              </a:ext>
            </a:extLst>
          </p:cNvPr>
          <p:cNvSpPr txBox="1"/>
          <p:nvPr/>
        </p:nvSpPr>
        <p:spPr>
          <a:xfrm>
            <a:off x="1592746" y="3649449"/>
            <a:ext cx="40344961" cy="190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8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Zaara Rodriguez Mendoza, Monika R. Kelley, Evan A. </a:t>
            </a:r>
            <a:r>
              <a:rPr lang="es-MX" sz="589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Perkowski</a:t>
            </a:r>
            <a:r>
              <a:rPr lang="es-MX" sz="58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Nicholas G. Smith</a:t>
            </a:r>
            <a:endParaRPr lang="en-US" sz="589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589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C0643D-C88D-4638-5754-321BA8F4A07A}"/>
              </a:ext>
            </a:extLst>
          </p:cNvPr>
          <p:cNvGrpSpPr/>
          <p:nvPr/>
        </p:nvGrpSpPr>
        <p:grpSpPr>
          <a:xfrm>
            <a:off x="712518" y="13984016"/>
            <a:ext cx="16273156" cy="6160493"/>
            <a:chOff x="2721689" y="12844073"/>
            <a:chExt cx="12065242" cy="600949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EBCB4E-A4C8-13F2-26C2-F51D26836A3E}"/>
                </a:ext>
              </a:extLst>
            </p:cNvPr>
            <p:cNvSpPr/>
            <p:nvPr/>
          </p:nvSpPr>
          <p:spPr>
            <a:xfrm>
              <a:off x="2721689" y="13015460"/>
              <a:ext cx="5889485" cy="995068"/>
            </a:xfrm>
            <a:prstGeom prst="rect">
              <a:avLst/>
            </a:prstGeom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sz="2143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2D2B5C-623B-B08E-AE2B-8ED69373DE89}"/>
                </a:ext>
              </a:extLst>
            </p:cNvPr>
            <p:cNvSpPr/>
            <p:nvPr/>
          </p:nvSpPr>
          <p:spPr>
            <a:xfrm>
              <a:off x="2746621" y="12844073"/>
              <a:ext cx="5864553" cy="1239435"/>
            </a:xfrm>
            <a:custGeom>
              <a:avLst/>
              <a:gdLst>
                <a:gd name="csX0" fmla="*/ 0 w 5864553"/>
                <a:gd name="csY0" fmla="*/ 0 h 1239435"/>
                <a:gd name="csX1" fmla="*/ 5864553 w 5864553"/>
                <a:gd name="csY1" fmla="*/ 0 h 1239435"/>
                <a:gd name="csX2" fmla="*/ 5864553 w 5864553"/>
                <a:gd name="csY2" fmla="*/ 1239435 h 1239435"/>
                <a:gd name="csX3" fmla="*/ 0 w 5864553"/>
                <a:gd name="csY3" fmla="*/ 1239435 h 1239435"/>
                <a:gd name="csX4" fmla="*/ 0 w 5864553"/>
                <a:gd name="csY4" fmla="*/ 0 h 1239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864553" h="1239435">
                  <a:moveTo>
                    <a:pt x="0" y="0"/>
                  </a:moveTo>
                  <a:lnTo>
                    <a:pt x="5864553" y="0"/>
                  </a:lnTo>
                  <a:lnTo>
                    <a:pt x="5864553" y="1239435"/>
                  </a:lnTo>
                  <a:lnTo>
                    <a:pt x="0" y="12394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82" tIns="90055" rIns="135082" bIns="90055" numCol="1" spcCol="1270" anchor="ctr" anchorCtr="0">
              <a:noAutofit/>
            </a:bodyPr>
            <a:lstStyle/>
            <a:p>
              <a:pPr defTabSz="31518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709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709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709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grasses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13BB8FC-D7E5-67E6-289E-48B0D5BB0A08}"/>
                </a:ext>
              </a:extLst>
            </p:cNvPr>
            <p:cNvSpPr/>
            <p:nvPr/>
          </p:nvSpPr>
          <p:spPr>
            <a:xfrm>
              <a:off x="2911753" y="14243835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A5C2793-D8CF-220F-4C4B-C15B3EFA1DD0}"/>
                </a:ext>
              </a:extLst>
            </p:cNvPr>
            <p:cNvSpPr/>
            <p:nvPr/>
          </p:nvSpPr>
          <p:spPr>
            <a:xfrm>
              <a:off x="2983608" y="13923825"/>
              <a:ext cx="5741480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Dichanthelium</a:t>
              </a: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oligosanthes</a:t>
              </a:r>
              <a:endPara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3EDA4A-6073-AE67-3CDE-D8C56FE686D4}"/>
                </a:ext>
              </a:extLst>
            </p:cNvPr>
            <p:cNvSpPr/>
            <p:nvPr/>
          </p:nvSpPr>
          <p:spPr>
            <a:xfrm>
              <a:off x="2911753" y="15567080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461C6D4-8E21-C06C-15BE-C1A419EA9BE2}"/>
                </a:ext>
              </a:extLst>
            </p:cNvPr>
            <p:cNvSpPr/>
            <p:nvPr/>
          </p:nvSpPr>
          <p:spPr>
            <a:xfrm>
              <a:off x="3026668" y="15232323"/>
              <a:ext cx="5454034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Dichanthelium</a:t>
              </a: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scoparium</a:t>
              </a:r>
              <a:endPara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6264C8-DB88-69B1-5D31-F36B42255820}"/>
                </a:ext>
              </a:extLst>
            </p:cNvPr>
            <p:cNvSpPr/>
            <p:nvPr/>
          </p:nvSpPr>
          <p:spPr>
            <a:xfrm>
              <a:off x="2911753" y="16890325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68785-7845-EDE4-6F73-5CAB498C9C0C}"/>
                </a:ext>
              </a:extLst>
            </p:cNvPr>
            <p:cNvSpPr/>
            <p:nvPr/>
          </p:nvSpPr>
          <p:spPr>
            <a:xfrm>
              <a:off x="2983608" y="16540821"/>
              <a:ext cx="5726655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Dichanthelium</a:t>
              </a: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clandestinum</a:t>
              </a:r>
              <a:endPara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0D6BCC-1E3F-A12B-78B2-660973D4ECE9}"/>
                </a:ext>
              </a:extLst>
            </p:cNvPr>
            <p:cNvSpPr/>
            <p:nvPr/>
          </p:nvSpPr>
          <p:spPr>
            <a:xfrm>
              <a:off x="2911753" y="18213571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F635AAB-AC77-424A-172F-68B1A7D23B1B}"/>
                </a:ext>
              </a:extLst>
            </p:cNvPr>
            <p:cNvSpPr/>
            <p:nvPr/>
          </p:nvSpPr>
          <p:spPr>
            <a:xfrm>
              <a:off x="2983608" y="17849320"/>
              <a:ext cx="5497094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Panicum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antidotale</a:t>
              </a:r>
              <a:endPara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DD14300-35C9-B932-18C3-C79538F690D8}"/>
                </a:ext>
              </a:extLst>
            </p:cNvPr>
            <p:cNvSpPr/>
            <p:nvPr/>
          </p:nvSpPr>
          <p:spPr>
            <a:xfrm>
              <a:off x="8796943" y="13015460"/>
              <a:ext cx="5989988" cy="995068"/>
            </a:xfrm>
            <a:prstGeom prst="rect">
              <a:avLst/>
            </a:prstGeom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sz="2143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ABAB53-EB23-E585-BF7B-5F517108C617}"/>
                </a:ext>
              </a:extLst>
            </p:cNvPr>
            <p:cNvSpPr/>
            <p:nvPr/>
          </p:nvSpPr>
          <p:spPr>
            <a:xfrm>
              <a:off x="8904402" y="12844073"/>
              <a:ext cx="5864553" cy="1239435"/>
            </a:xfrm>
            <a:custGeom>
              <a:avLst/>
              <a:gdLst>
                <a:gd name="csX0" fmla="*/ 0 w 5864553"/>
                <a:gd name="csY0" fmla="*/ 0 h 1239435"/>
                <a:gd name="csX1" fmla="*/ 5864553 w 5864553"/>
                <a:gd name="csY1" fmla="*/ 0 h 1239435"/>
                <a:gd name="csX2" fmla="*/ 5864553 w 5864553"/>
                <a:gd name="csY2" fmla="*/ 1239435 h 1239435"/>
                <a:gd name="csX3" fmla="*/ 0 w 5864553"/>
                <a:gd name="csY3" fmla="*/ 1239435 h 1239435"/>
                <a:gd name="csX4" fmla="*/ 0 w 5864553"/>
                <a:gd name="csY4" fmla="*/ 0 h 1239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864553" h="1239435">
                  <a:moveTo>
                    <a:pt x="0" y="0"/>
                  </a:moveTo>
                  <a:lnTo>
                    <a:pt x="5864553" y="0"/>
                  </a:lnTo>
                  <a:lnTo>
                    <a:pt x="5864553" y="1239435"/>
                  </a:lnTo>
                  <a:lnTo>
                    <a:pt x="0" y="12394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82" tIns="90055" rIns="135082" bIns="90055" numCol="1" spcCol="1270" anchor="ctr" anchorCtr="0">
              <a:noAutofit/>
            </a:bodyPr>
            <a:lstStyle/>
            <a:p>
              <a:pPr defTabSz="31518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709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709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709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grasses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3CF0061-6887-E8E3-3001-2B286AE44A63}"/>
                </a:ext>
              </a:extLst>
            </p:cNvPr>
            <p:cNvSpPr/>
            <p:nvPr/>
          </p:nvSpPr>
          <p:spPr>
            <a:xfrm>
              <a:off x="9069366" y="14243835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5597094-507F-0F37-8FDC-66A51E29EC0B}"/>
                </a:ext>
              </a:extLst>
            </p:cNvPr>
            <p:cNvSpPr/>
            <p:nvPr/>
          </p:nvSpPr>
          <p:spPr>
            <a:xfrm>
              <a:off x="9184449" y="13920914"/>
              <a:ext cx="5592549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Panicum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antidotale</a:t>
              </a:r>
              <a:endPara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1CEBE4F-0395-9139-3009-95A2E6EDDF10}"/>
                </a:ext>
              </a:extLst>
            </p:cNvPr>
            <p:cNvSpPr/>
            <p:nvPr/>
          </p:nvSpPr>
          <p:spPr>
            <a:xfrm>
              <a:off x="9069617" y="15567611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84ADCD8-C484-34A8-AB8D-2F666D5E9D24}"/>
                </a:ext>
              </a:extLst>
            </p:cNvPr>
            <p:cNvSpPr/>
            <p:nvPr/>
          </p:nvSpPr>
          <p:spPr>
            <a:xfrm>
              <a:off x="9184449" y="15230383"/>
              <a:ext cx="5584506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Panicum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trichanthum</a:t>
              </a: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0809140-E322-38B1-0C60-88E9A86B7B26}"/>
                </a:ext>
              </a:extLst>
            </p:cNvPr>
            <p:cNvSpPr/>
            <p:nvPr/>
          </p:nvSpPr>
          <p:spPr>
            <a:xfrm>
              <a:off x="9069366" y="16891387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429193A-C0C3-DCA1-49CA-73FEEA986BB3}"/>
                </a:ext>
              </a:extLst>
            </p:cNvPr>
            <p:cNvSpPr/>
            <p:nvPr/>
          </p:nvSpPr>
          <p:spPr>
            <a:xfrm>
              <a:off x="9184449" y="16539852"/>
              <a:ext cx="5584506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Panicum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coloratum</a:t>
              </a:r>
              <a:endPara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D6E3A48-7672-0A56-B2E4-8C34354A715E}"/>
                </a:ext>
              </a:extLst>
            </p:cNvPr>
            <p:cNvSpPr/>
            <p:nvPr/>
          </p:nvSpPr>
          <p:spPr>
            <a:xfrm>
              <a:off x="9069366" y="18215163"/>
              <a:ext cx="229957" cy="275742"/>
            </a:xfrm>
            <a:prstGeom prst="rect">
              <a:avLst/>
            </a:prstGeom>
            <a:solidFill>
              <a:srgbClr val="6C8E6D"/>
            </a:solidFill>
            <a:ln>
              <a:solidFill>
                <a:srgbClr val="6C8E6D"/>
              </a:solidFill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143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0E722B4-45E1-9D96-7D8D-91CD2CE7722C}"/>
                </a:ext>
              </a:extLst>
            </p:cNvPr>
            <p:cNvSpPr/>
            <p:nvPr/>
          </p:nvSpPr>
          <p:spPr>
            <a:xfrm>
              <a:off x="9184449" y="17849320"/>
              <a:ext cx="5584506" cy="1004244"/>
            </a:xfrm>
            <a:custGeom>
              <a:avLst/>
              <a:gdLst>
                <a:gd name="csX0" fmla="*/ 0 w 5454034"/>
                <a:gd name="csY0" fmla="*/ 0 h 1004244"/>
                <a:gd name="csX1" fmla="*/ 5454034 w 5454034"/>
                <a:gd name="csY1" fmla="*/ 0 h 1004244"/>
                <a:gd name="csX2" fmla="*/ 5454034 w 5454034"/>
                <a:gd name="csY2" fmla="*/ 1004244 h 1004244"/>
                <a:gd name="csX3" fmla="*/ 0 w 5454034"/>
                <a:gd name="csY3" fmla="*/ 1004244 h 1004244"/>
                <a:gd name="csX4" fmla="*/ 0 w 5454034"/>
                <a:gd name="csY4" fmla="*/ 0 h 1004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54034" h="1004244">
                  <a:moveTo>
                    <a:pt x="0" y="0"/>
                  </a:moveTo>
                  <a:lnTo>
                    <a:pt x="5454034" y="0"/>
                  </a:lnTo>
                  <a:lnTo>
                    <a:pt x="5454034" y="1004244"/>
                  </a:lnTo>
                  <a:lnTo>
                    <a:pt x="0" y="10042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defTabSz="160018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Panicum </a:t>
              </a:r>
              <a:r>
                <a:rPr lang="en-US" sz="4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hallii</a:t>
              </a:r>
              <a:r>
                <a:rPr lang="en-US" sz="4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0EAC187-A6C6-6079-FE5F-FD5E2864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20" y="22859684"/>
            <a:ext cx="16273154" cy="9694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E45936-9552-3C23-99E5-9628B81EA6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743"/>
          <a:stretch>
            <a:fillRect/>
          </a:stretch>
        </p:blipFill>
        <p:spPr>
          <a:xfrm>
            <a:off x="32497878" y="5207437"/>
            <a:ext cx="10680801" cy="80288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1D0818-F9B4-7F29-46F3-96F4636D11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79" t="1893" r="33864"/>
          <a:stretch>
            <a:fillRect/>
          </a:stretch>
        </p:blipFill>
        <p:spPr>
          <a:xfrm>
            <a:off x="25285368" y="13498791"/>
            <a:ext cx="10680801" cy="78768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AC929B-4B4B-BA3B-B217-38FFCAF866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743" t="628"/>
          <a:stretch>
            <a:fillRect/>
          </a:stretch>
        </p:blipFill>
        <p:spPr>
          <a:xfrm>
            <a:off x="18051554" y="5207438"/>
            <a:ext cx="10680801" cy="79784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5686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393A7CC04E8A4A8B342331C102E0E7" ma:contentTypeVersion="14" ma:contentTypeDescription="Create a new document." ma:contentTypeScope="" ma:versionID="a23b62a20d9ec3856800f4a4330132fe">
  <xsd:schema xmlns:xsd="http://www.w3.org/2001/XMLSchema" xmlns:xs="http://www.w3.org/2001/XMLSchema" xmlns:p="http://schemas.microsoft.com/office/2006/metadata/properties" xmlns:ns3="23d7365f-5cd5-40a9-ba38-422f98203494" xmlns:ns4="7cdf5d02-7ac8-4268-8210-4e966d6eacfa" targetNamespace="http://schemas.microsoft.com/office/2006/metadata/properties" ma:root="true" ma:fieldsID="efad6f78c7b0d55ae4c43617e416baa7" ns3:_="" ns4:_="">
    <xsd:import namespace="23d7365f-5cd5-40a9-ba38-422f98203494"/>
    <xsd:import namespace="7cdf5d02-7ac8-4268-8210-4e966d6eacf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7365f-5cd5-40a9-ba38-422f9820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df5d02-7ac8-4268-8210-4e966d6eacf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d7365f-5cd5-40a9-ba38-422f98203494" xsi:nil="true"/>
  </documentManagement>
</p:properties>
</file>

<file path=customXml/itemProps1.xml><?xml version="1.0" encoding="utf-8"?>
<ds:datastoreItem xmlns:ds="http://schemas.openxmlformats.org/officeDocument/2006/customXml" ds:itemID="{8297BACF-BE51-4B60-BE58-7788D6FE7D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d7365f-5cd5-40a9-ba38-422f98203494"/>
    <ds:schemaRef ds:uri="7cdf5d02-7ac8-4268-8210-4e966d6eac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211156-2DB8-444C-B8B2-891E2C208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650DA4-0EE4-4E13-B9E0-4E5718400C5A}">
  <ds:schemaRefs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7cdf5d02-7ac8-4268-8210-4e966d6eacfa"/>
    <ds:schemaRef ds:uri="23d7365f-5cd5-40a9-ba38-422f9820349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</TotalTime>
  <Words>230</Words>
  <Application>Microsoft Macintosh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Rodriguez Mendoza, Zaara</dc:creator>
  <cp:lastModifiedBy>Perkowski, Evan A</cp:lastModifiedBy>
  <cp:revision>13</cp:revision>
  <dcterms:created xsi:type="dcterms:W3CDTF">2026-02-27T16:36:22Z</dcterms:created>
  <dcterms:modified xsi:type="dcterms:W3CDTF">2026-04-08T13:52:05Z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0x0101008A393A7CC04E8A4A8B342331C102E0E7</vt:lpwstr>
  </property>
</Properties>
</file>